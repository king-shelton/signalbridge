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2cbb8089934d7d" /><Relationship Type="http://schemas.openxmlformats.org/officeDocument/2006/relationships/extended-properties" Target="/docProps/app.xml" Id="R15f7a3f35ae9469a" /><Relationship Type="http://schemas.openxmlformats.org/officeDocument/2006/relationships/officeDocument" Target="/ppt/presentation.xml" Id="R999e63357c5749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419f8832ea41ec"/>
  </p:sldMasterIdLst>
  <p:notesMasterIdLst>
    <p:notesMasterId xmlns:r="http://schemas.openxmlformats.org/officeDocument/2006/relationships" r:id="Rda5cd6fc07f74bde"/>
  </p:notesMasterIdLst>
  <p:sldIdLst>
    <p:sldId xmlns:r="http://schemas.openxmlformats.org/officeDocument/2006/relationships" id="256" r:id="Rcd403b6346a4485e"/>
    <p:sldId xmlns:r="http://schemas.openxmlformats.org/officeDocument/2006/relationships" id="257" r:id="R4fc8a65f29e94171"/>
    <p:sldId xmlns:r="http://schemas.openxmlformats.org/officeDocument/2006/relationships" id="258" r:id="Rff984fbebfdf4149"/>
    <p:sldId xmlns:r="http://schemas.openxmlformats.org/officeDocument/2006/relationships" id="259" r:id="Rc8fb4c4c8d2241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ec2eed8d30429a" /><Relationship Type="http://schemas.openxmlformats.org/officeDocument/2006/relationships/slideMaster" Target="/ppt/slideMasters/slideMaster1.xml" Id="R90419f8832ea41ec" /><Relationship Type="http://schemas.openxmlformats.org/officeDocument/2006/relationships/notesMaster" Target="/ppt/notesMasters/notesMaster1.xml" Id="Rda5cd6fc07f74bde" /><Relationship Type="http://schemas.openxmlformats.org/officeDocument/2006/relationships/presProps" Target="/ppt/presProps.xml" Id="R6d355dfe7b924a22" /><Relationship Type="http://schemas.openxmlformats.org/officeDocument/2006/relationships/tableStyles" Target="/ppt/tableStyles.xml" Id="R0fce261837aa43cf" /><Relationship Type="http://schemas.openxmlformats.org/officeDocument/2006/relationships/slide" Target="/ppt/slides/slide1.xml" Id="Rcd403b6346a4485e" /><Relationship Type="http://schemas.openxmlformats.org/officeDocument/2006/relationships/slide" Target="/ppt/slides/slide2.xml" Id="R4fc8a65f29e94171" /><Relationship Type="http://schemas.openxmlformats.org/officeDocument/2006/relationships/slide" Target="/ppt/slides/slide3.xml" Id="Rff984fbebfdf4149" /><Relationship Type="http://schemas.openxmlformats.org/officeDocument/2006/relationships/slide" Target="/ppt/slides/slide4.xml" Id="Rc8fb4c4c8d2241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d71440a0b143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29f8f35aa847f9" /><Relationship Type="http://schemas.openxmlformats.org/officeDocument/2006/relationships/notesMaster" Target="/ppt/notesMasters/notesMaster1.xml" Id="R46311d777aaa43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1e153dd3514840" /><Relationship Type="http://schemas.openxmlformats.org/officeDocument/2006/relationships/notesMaster" Target="/ppt/notesMasters/notesMaster1.xml" Id="R234b333b59dc4f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f82a3975414df2" /><Relationship Type="http://schemas.openxmlformats.org/officeDocument/2006/relationships/notesMaster" Target="/ppt/notesMasters/notesMaster1.xml" Id="R41d63471c27b4a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4cf8034bd4411f" /><Relationship Type="http://schemas.openxmlformats.org/officeDocument/2006/relationships/notesMaster" Target="/ppt/notesMasters/notesMaster1.xml" Id="Rc295d02f1c6b47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09cddd83b41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aa5bd519f64a0c" /><Relationship Type="http://schemas.openxmlformats.org/officeDocument/2006/relationships/slideLayout" Target="/ppt/slideLayouts/slideLayout1.xml" Id="R96c496588f024b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c496588f024b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74229e46e458d" /><Relationship Type="http://schemas.openxmlformats.org/officeDocument/2006/relationships/notesSlide" Target="/ppt/notesSlides/notesSlide1.xml" Id="R669294288f7b46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6594f089449b7" /><Relationship Type="http://schemas.openxmlformats.org/officeDocument/2006/relationships/notesSlide" Target="/ppt/notesSlides/notesSlide2.xml" Id="R50fd491a592d4e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76309df46407c" /><Relationship Type="http://schemas.openxmlformats.org/officeDocument/2006/relationships/notesSlide" Target="/ppt/notesSlides/notesSlide3.xml" Id="R8ec8e75d5f984d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9f8e43862441c" /><Relationship Type="http://schemas.openxmlformats.org/officeDocument/2006/relationships/notesSlide" Target="/ppt/notesSlides/notesSlide4.xml" Id="Reff000b251ce43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32E002-7CD6-4E09-8ED7-8463B3A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6204A-CE20-43A1-B444-1F5184D1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Youth support does not stop after-hours.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0E860-B33B-4534-8C21-27BAFB8D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Workers need continuity across many digital conversations, but youths should not have to repeat painful context the next morning.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E0DF9-F5B5-4283-9407-D5F6A03B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After-hours messages arrive when workers are unavailable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4C4C1-A1CA-4BCD-8D5C-B7C30BF0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Context is scattered across chats, notes, memory, and follow-ups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0D7CD-5D51-42CC-B98E-E8A09190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5F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F1D1D"/>
                </a:solidFill>
                <a:latin typeface="Aptos"/>
                <a:ea typeface="Aptos"/>
                <a:cs typeface="Aptos"/>
              </a:rPr>
              <a:t>Unsafe automation risk: the product must support, not replace, human care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AE2CC-7B0B-4E17-8678-DE585124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Judging frame: reduce worker cognitive load while preserving youth consent, human review, and auditability.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10303-D68E-4B20-888D-204AE7D1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SignalBridge Day 2 | Auth + Database + Role-Based App Shell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59872-A9A6-45EE-8270-77DB051C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9272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B692E6-B3AD-4BC6-8661-1A1B8B68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F0848-F57F-4F4A-885E-3D687048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SignalBridge is a human-in-the-loop support command centre.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18C55-A66E-41F6-8177-18F27DB2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It combines role-based login, persistent case records, SafeNight handoffs, worker cockpit triage, and supervisor visibility around one coherent Mira journey.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36B5B-AECA-4E65-A3FC-966C6CE7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FF5F3"/>
          </a:solidFill>
          <a:ln xmlns:a="http://schemas.openxmlformats.org/drawingml/2006/main" w="9525">
            <a:solidFill>
              <a:srgbClr val="1F6F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Youth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8F943-F656-428D-A235-FE7CDCB2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SafeNight Companion</a:t>
            </a:r>
          </a:p>
          <a:p xmlns:a="http://schemas.openxmlformats.org/drawingml/2006/main">
            <a:pPr>
              <a:defRPr sz="13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Consent-led handoff preview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C88B9-F4D9-4AA1-B7CA-081881C7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F6F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58FA2-43FE-4609-8216-05179438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Cockpit + Signal Radar</a:t>
            </a:r>
          </a:p>
          <a:p xmlns:a="http://schemas.openxmlformats.org/drawingml/2006/main">
            <a:pPr>
              <a:defRPr sz="13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AI-assisted handoff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B24DB-EFCD-49FA-9ED2-1DF4314C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F6F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Supervisor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D7DC9-4EF6-4EA0-9891-EA1382EE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38550"/>
            <a:ext cx="2571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Load + audit visibility</a:t>
            </a:r>
          </a:p>
          <a:p xmlns:a="http://schemas.openxmlformats.org/drawingml/2006/main">
            <a:pPr>
              <a:defRPr sz="1350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Escalation oversight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B7425-B836-490E-89D1-0C5084A4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The youth does not have to repeat their pain twice, and the worker does not have to start from zero.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C0F7B-26E3-4736-AD64-6C2D6C28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SignalBridge Day 2 | Auth + Database + Role-Based App Shell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EA998-41B9-4316-817D-0B9ED08D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7157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6CB37C-3BEE-4B9F-823A-E31D3156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MIRA DEMO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C9312-E752-488D-97AF-322A548A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Mira moves from distress to a worker-ready handoff without retelling everything.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91D01-053A-4353-B302-441BEF08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alpha stays anchored to one fictional after-hours cyberbullying 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0419E-60B0-462B-9414-732C8DD4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000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6F64"/>
          </a:solidFill>
          <a:ln xmlns:a="http://schemas.openxmlformats.org/drawingml/2006/main" w="9525">
            <a:solidFill>
              <a:srgbClr val="1F6F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11:42 PM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E17FA-989F-4A61-BF19-87A41B19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000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Mira shares cyberbullying message after-hours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23CDD-3507-4BC6-9AE9-AD14402F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90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4C66C-D0F0-4718-A2E4-212ACCC0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2000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6F64"/>
          </a:solidFill>
          <a:ln xmlns:a="http://schemas.openxmlformats.org/drawingml/2006/main" w="9525">
            <a:solidFill>
              <a:srgbClr val="1F6F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SafeNight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2C83C-891E-4637-AB6C-92440B50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67125"/>
            <a:ext cx="2000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Acknowledges distress and avoids diagnosis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D6C43-127A-404E-B0AA-3B8C9A88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90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DA17F-3F63-4FFF-A71E-FEF4F2A3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2000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6F64"/>
          </a:solidFill>
          <a:ln xmlns:a="http://schemas.openxmlformats.org/drawingml/2006/main" w="9525">
            <a:solidFill>
              <a:srgbClr val="1F6F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35DD4-7D68-4034-A749-6EF97133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2000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Mira reviews what gets shared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EAA9C-6021-4D4F-872F-B9E30265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909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779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B7791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BE355-73F9-41B6-82E2-9636C4F9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2000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F6F64"/>
          </a:solidFill>
          <a:ln xmlns:a="http://schemas.openxmlformats.org/drawingml/2006/main" w="9525">
            <a:solidFill>
              <a:srgbClr val="1F6F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1BFE1-6307-4606-9A58-095FA55B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67125"/>
            <a:ext cx="2000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F"/>
                </a:solidFill>
                <a:latin typeface="Aptos"/>
                <a:ea typeface="Aptos"/>
                <a:cs typeface="Aptos"/>
              </a:rPr>
              <a:t>Worker sees risk, quote, and first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3FF91-FFD4-4542-BF97-A8A8538A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10200"/>
            <a:ext cx="876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5F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F1D1D"/>
                </a:solidFill>
                <a:latin typeface="Aptos"/>
                <a:ea typeface="Aptos"/>
                <a:cs typeface="Aptos"/>
              </a:rPr>
              <a:t>Key worker prompt: You do not have to repeat everything unless you want to. I am here now.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05199-3E14-40B0-965D-14A243BA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SignalBridge Day 2 | Auth + Database + Role-Based App Shell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D1D2C-D1F2-4BAA-9AA6-52644EC2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9954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050B7E-37BF-496A-8D9C-AF6C68FE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ARCHITECTURE DRAFT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9A7CF-B1AF-4FE7-87E2-A41FF4FA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12F"/>
                </a:solidFill>
                <a:latin typeface="Aptos Display"/>
                <a:ea typeface="Aptos Display"/>
                <a:cs typeface="Aptos Display"/>
              </a:rPr>
              <a:t>Day 2 locks the role-based app shell to real backend auth and persistence.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12DBF-F092-406D-9B91-66573221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Frontend and backend now share constants and verify sessions through the API before opening protected workspaces.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443E9-7FAE-4B0F-9EA7-BDFA00CE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5F3"/>
          </a:solidFill>
          <a:ln xmlns:a="http://schemas.openxmlformats.org/drawingml/2006/main" w="9525">
            <a:solidFill>
              <a:srgbClr val="1F6F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Next.js Web</a:t>
            </a:r>
          </a:p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/youth /worker /supervisor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3313E-E361-4521-BC2D-3F3A332C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FastAPI API</a:t>
            </a:r>
          </a:p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/auth/login /auth/me /constants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E68DD-A8FA-4C69-AAFC-0BFDA4AC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2D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F"/>
                </a:solidFill>
                <a:latin typeface="Aptos"/>
                <a:ea typeface="Aptos"/>
                <a:cs typeface="Aptos"/>
              </a:rPr>
              <a:t>users, cases, handoffs, audit logs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E4B3B-2328-4679-ACB4-B801B9DA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0"/>
            <a:ext cx="3143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95F4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1D1D"/>
                </a:solidFill>
                <a:latin typeface="Aptos"/>
                <a:ea typeface="Aptos"/>
                <a:cs typeface="Aptos"/>
              </a:rPr>
              <a:t>Safety Layer</a:t>
            </a:r>
          </a:p>
          <a:p xmlns:a="http://schemas.openxmlformats.org/drawingml/2006/main">
            <a:pPr>
              <a:defRPr sz="1350" b="1">
                <a:solidFill>
                  <a:srgbClr val="7F1D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1D1D"/>
                </a:solidFill>
                <a:latin typeface="Aptos"/>
                <a:ea typeface="Aptos"/>
                <a:cs typeface="Aptos"/>
              </a:rPr>
              <a:t>consent, risk levels, review,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A7057-BFF2-4755-879E-CC411B1D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1945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JWT + role redirect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9C52D-C83D-4780-AC3C-70D0591A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194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SQLAlchemy 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8DA9D-FC13-4532-BC8C-961EE4FD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053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shared constants: roles | case statuses | risk levels | channel types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5DCA5-08B5-4403-B141-6668EA65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SignalBridge Day 2 | Auth + Database + Role-Based App Shell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E652B-8A60-46F6-8674-C93380B9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6F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6F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5280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2026-06-17T08:33:30.7630000Z</dcterms:created>
  <dcterms:modified xsi:type="dcterms:W3CDTF">2026-06-17T08:33:30.7630000Z</dcterms:modified>
</coreProperties>
</file>